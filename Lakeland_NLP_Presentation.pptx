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212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9" d="100"/>
          <a:sy n="139" d="100"/>
        </p:scale>
        <p:origin x="44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zmul Mustufa Farooquee" userId="e3ce24285558ef7e" providerId="LiveId" clId="{28D65619-B33C-474B-ACC6-E6F675FDF040}"/>
    <pc:docChg chg="undo custSel modSld">
      <pc:chgData name="Nazmul Mustufa Farooquee" userId="e3ce24285558ef7e" providerId="LiveId" clId="{28D65619-B33C-474B-ACC6-E6F675FDF040}" dt="2026-06-17T10:24:58.838" v="23" actId="1076"/>
      <pc:docMkLst>
        <pc:docMk/>
      </pc:docMkLst>
      <pc:sldChg chg="modSp mod">
        <pc:chgData name="Nazmul Mustufa Farooquee" userId="e3ce24285558ef7e" providerId="LiveId" clId="{28D65619-B33C-474B-ACC6-E6F675FDF040}" dt="2026-06-17T10:24:58.838" v="23" actId="1076"/>
        <pc:sldMkLst>
          <pc:docMk/>
          <pc:sldMk cId="0" sldId="258"/>
        </pc:sldMkLst>
        <pc:spChg chg="mod">
          <ac:chgData name="Nazmul Mustufa Farooquee" userId="e3ce24285558ef7e" providerId="LiveId" clId="{28D65619-B33C-474B-ACC6-E6F675FDF040}" dt="2026-06-17T10:21:51.341" v="18" actId="107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Nazmul Mustufa Farooquee" userId="e3ce24285558ef7e" providerId="LiveId" clId="{28D65619-B33C-474B-ACC6-E6F675FDF040}" dt="2026-06-17T10:22:06.860" v="21" actId="107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Nazmul Mustufa Farooquee" userId="e3ce24285558ef7e" providerId="LiveId" clId="{28D65619-B33C-474B-ACC6-E6F675FDF040}" dt="2026-06-17T10:19:56.778" v="5" actId="107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Nazmul Mustufa Farooquee" userId="e3ce24285558ef7e" providerId="LiveId" clId="{28D65619-B33C-474B-ACC6-E6F675FDF040}" dt="2026-06-17T10:24:58.838" v="23" actId="1076"/>
          <ac:spMkLst>
            <pc:docMk/>
            <pc:sldMk cId="0" sldId="258"/>
            <ac:spMk id="18" creationId="{00000000-0000-0000-0000-000000000000}"/>
          </ac:spMkLst>
        </pc:spChg>
        <pc:spChg chg="mod">
          <ac:chgData name="Nazmul Mustufa Farooquee" userId="e3ce24285558ef7e" providerId="LiveId" clId="{28D65619-B33C-474B-ACC6-E6F675FDF040}" dt="2026-06-17T10:20:07.953" v="6" actId="1076"/>
          <ac:spMkLst>
            <pc:docMk/>
            <pc:sldMk cId="0" sldId="258"/>
            <ac:spMk id="19" creationId="{00000000-0000-0000-0000-000000000000}"/>
          </ac:spMkLst>
        </pc:spChg>
        <pc:spChg chg="mod">
          <ac:chgData name="Nazmul Mustufa Farooquee" userId="e3ce24285558ef7e" providerId="LiveId" clId="{28D65619-B33C-474B-ACC6-E6F675FDF040}" dt="2026-06-17T10:20:17.488" v="7" actId="1076"/>
          <ac:spMkLst>
            <pc:docMk/>
            <pc:sldMk cId="0" sldId="258"/>
            <ac:spMk id="20" creationId="{00000000-0000-0000-0000-000000000000}"/>
          </ac:spMkLst>
        </pc:spChg>
        <pc:spChg chg="mod">
          <ac:chgData name="Nazmul Mustufa Farooquee" userId="e3ce24285558ef7e" providerId="LiveId" clId="{28D65619-B33C-474B-ACC6-E6F675FDF040}" dt="2026-06-17T10:20:30.362" v="8" actId="1076"/>
          <ac:spMkLst>
            <pc:docMk/>
            <pc:sldMk cId="0" sldId="258"/>
            <ac:spMk id="21" creationId="{00000000-0000-0000-0000-000000000000}"/>
          </ac:spMkLst>
        </pc:spChg>
        <pc:spChg chg="mod">
          <ac:chgData name="Nazmul Mustufa Farooquee" userId="e3ce24285558ef7e" providerId="LiveId" clId="{28D65619-B33C-474B-ACC6-E6F675FDF040}" dt="2026-06-17T10:21:21.024" v="13" actId="1076"/>
          <ac:spMkLst>
            <pc:docMk/>
            <pc:sldMk cId="0" sldId="258"/>
            <ac:spMk id="22" creationId="{00000000-0000-0000-0000-000000000000}"/>
          </ac:spMkLst>
        </pc:spChg>
        <pc:spChg chg="mod">
          <ac:chgData name="Nazmul Mustufa Farooquee" userId="e3ce24285558ef7e" providerId="LiveId" clId="{28D65619-B33C-474B-ACC6-E6F675FDF040}" dt="2026-06-17T10:20:51.278" v="10" actId="1076"/>
          <ac:spMkLst>
            <pc:docMk/>
            <pc:sldMk cId="0" sldId="258"/>
            <ac:spMk id="23" creationId="{00000000-0000-0000-0000-000000000000}"/>
          </ac:spMkLst>
        </pc:spChg>
        <pc:spChg chg="mod">
          <ac:chgData name="Nazmul Mustufa Farooquee" userId="e3ce24285558ef7e" providerId="LiveId" clId="{28D65619-B33C-474B-ACC6-E6F675FDF040}" dt="2026-06-17T10:20:58.628" v="11" actId="1076"/>
          <ac:spMkLst>
            <pc:docMk/>
            <pc:sldMk cId="0" sldId="258"/>
            <ac:spMk id="24" creationId="{00000000-0000-0000-0000-000000000000}"/>
          </ac:spMkLst>
        </pc:spChg>
        <pc:spChg chg="mod">
          <ac:chgData name="Nazmul Mustufa Farooquee" userId="e3ce24285558ef7e" providerId="LiveId" clId="{28D65619-B33C-474B-ACC6-E6F675FDF040}" dt="2026-06-17T10:21:27.652" v="14" actId="1076"/>
          <ac:spMkLst>
            <pc:docMk/>
            <pc:sldMk cId="0" sldId="258"/>
            <ac:spMk id="25" creationId="{00000000-0000-0000-0000-000000000000}"/>
          </ac:spMkLst>
        </pc:spChg>
        <pc:spChg chg="mod">
          <ac:chgData name="Nazmul Mustufa Farooquee" userId="e3ce24285558ef7e" providerId="LiveId" clId="{28D65619-B33C-474B-ACC6-E6F675FDF040}" dt="2026-06-17T10:23:04.299" v="22" actId="1076"/>
          <ac:spMkLst>
            <pc:docMk/>
            <pc:sldMk cId="0" sldId="258"/>
            <ac:spMk id="26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512064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0" y="182880"/>
            <a:ext cx="2377440" cy="384048"/>
          </a:xfrm>
          <a:prstGeom prst="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01968" y="210312"/>
            <a:ext cx="234086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 dirty="0">
                <a:solidFill>
                  <a:schemeClr val="bg1"/>
                </a:solidFill>
                <a:latin typeface="Calibri"/>
              </a:rPr>
              <a:t>TRUSTPILOT  NLP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13232"/>
            <a:ext cx="86868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Lakeland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46304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0" i="0">
                <a:solidFill>
                  <a:srgbClr val="00C8A0"/>
                </a:solidFill>
                <a:latin typeface="Calibri"/>
              </a:rPr>
              <a:t>Review Sentiment &amp; Topic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2029968"/>
            <a:ext cx="5486400" cy="36576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" y="2121408"/>
            <a:ext cx="8686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DistilBERT Sentiment  |  LDA Topic Modelling  |  6,138 Home &amp; Garden Sector Reviews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606040"/>
            <a:ext cx="4251960" cy="1691640"/>
          </a:xfrm>
          <a:prstGeom prst="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8600" y="2606040"/>
            <a:ext cx="64008" cy="169164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2578608"/>
            <a:ext cx="210312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800" b="1" i="0">
                <a:solidFill>
                  <a:srgbClr val="FF4757"/>
                </a:solidFill>
                <a:latin typeface="Calibri"/>
              </a:rPr>
              <a:t>70%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3749039"/>
            <a:ext cx="210312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FF4757"/>
                </a:solidFill>
                <a:latin typeface="Calibri"/>
              </a:rPr>
              <a:t>NEGATIVE SENTIMENT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743200"/>
            <a:ext cx="17373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hidden by
artificially
balanced star ratings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73168" y="2606040"/>
            <a:ext cx="1371600" cy="1691640"/>
          </a:xfrm>
          <a:prstGeom prst="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73168" y="2606040"/>
            <a:ext cx="1371600" cy="4572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73168" y="2788920"/>
            <a:ext cx="137160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8" y="3767328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Lakeland
Reviews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81927" y="2606040"/>
            <a:ext cx="1371600" cy="1691640"/>
          </a:xfrm>
          <a:prstGeom prst="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81927" y="2606040"/>
            <a:ext cx="1371600" cy="4572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81927" y="2788920"/>
            <a:ext cx="137160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7" y="3767328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Competitor
Brands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90688" y="2606040"/>
            <a:ext cx="1371600" cy="1691640"/>
          </a:xfrm>
          <a:prstGeom prst="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790688" y="2606040"/>
            <a:ext cx="1371600" cy="4572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90688" y="2788920"/>
            <a:ext cx="137160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6,138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90688" y="3767328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Calibri"/>
              </a:rPr>
              <a:t>Sector
Reviews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" y="4828032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47488"/>
                </a:solidFill>
                <a:latin typeface="Calibri"/>
              </a:rPr>
              <a:t>Home &amp; Garden Sector  |  Competitors: ProCook, Dunelm, Emma Bridgewater  |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512064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73252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Objectives &amp;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621792"/>
            <a:ext cx="8778240" cy="228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" y="731520"/>
            <a:ext cx="4343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00C8A0"/>
                </a:solidFill>
                <a:latin typeface="Calibri"/>
              </a:rPr>
              <a:t>RESEARCH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51560"/>
            <a:ext cx="530352" cy="566928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1124712"/>
            <a:ext cx="530352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0D1B2E"/>
                </a:solidFill>
                <a:latin typeface="Calibri"/>
              </a:rPr>
              <a:t>Q1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051560"/>
            <a:ext cx="3749039" cy="566928"/>
          </a:xfrm>
          <a:prstGeom prst="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115568"/>
            <a:ext cx="354787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Is Lakeland sentiment predominantly positive or negative vs competitors?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929384"/>
            <a:ext cx="530352" cy="566928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2880" y="2002536"/>
            <a:ext cx="530352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0D1B2E"/>
                </a:solidFill>
                <a:latin typeface="Calibri"/>
              </a:rPr>
              <a:t>Q2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929384"/>
            <a:ext cx="3749039" cy="566928"/>
          </a:xfrm>
          <a:prstGeom prst="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1993391"/>
            <a:ext cx="354787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What topics do customers write about? Same patterns across brands?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2807208"/>
            <a:ext cx="530352" cy="566928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82880" y="2880360"/>
            <a:ext cx="530352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0D1B2E"/>
                </a:solidFill>
                <a:latin typeface="Calibri"/>
              </a:rPr>
              <a:t>Q3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807208"/>
            <a:ext cx="3749039" cy="566928"/>
          </a:xfrm>
          <a:prstGeom prst="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2871215"/>
            <a:ext cx="354787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For each topic - where does Lakeland over/underperform vs peers?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3685031"/>
            <a:ext cx="530352" cy="566928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2880" y="3758183"/>
            <a:ext cx="530352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0D1B2E"/>
                </a:solidFill>
                <a:latin typeface="Calibri"/>
              </a:rPr>
              <a:t>Q4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685031"/>
            <a:ext cx="3749039" cy="566928"/>
          </a:xfrm>
          <a:prstGeom prst="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3749039"/>
            <a:ext cx="354787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Identify improvement areas with estimated business impact.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36592" y="658368"/>
            <a:ext cx="36576" cy="4434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19472" y="731520"/>
            <a:ext cx="404164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00C8A0"/>
                </a:solidFill>
                <a:latin typeface="Calibri"/>
              </a:rPr>
              <a:t>METHODOLOGY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19472" y="1051560"/>
            <a:ext cx="4005072" cy="713232"/>
          </a:xfrm>
          <a:prstGeom prst="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919472" y="1051560"/>
            <a:ext cx="4005072" cy="4572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0" y="1143000"/>
            <a:ext cx="382219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SENTIMENT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1307592"/>
            <a:ext cx="3822191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0C8A0"/>
                </a:solidFill>
                <a:latin typeface="Calibri"/>
              </a:rPr>
              <a:t>DistilBERT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1527048"/>
            <a:ext cx="3822191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distilbert-base-uncased-finetuned-sst-2-english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19472" y="1929384"/>
            <a:ext cx="4005072" cy="713232"/>
          </a:xfrm>
          <a:prstGeom prst="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919472" y="1929384"/>
            <a:ext cx="4005072" cy="4572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0" y="2020824"/>
            <a:ext cx="382219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TOPIC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2185415"/>
            <a:ext cx="3822191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0C8A0"/>
                </a:solidFill>
                <a:latin typeface="Calibri"/>
              </a:rPr>
              <a:t>LDA  6 Topics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2404872"/>
            <a:ext cx="3822191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Trained on 6,138 Home &amp; Garden reviews (74 companies)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19472" y="2807208"/>
            <a:ext cx="4005072" cy="713232"/>
          </a:xfrm>
          <a:prstGeom prst="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919472" y="2807208"/>
            <a:ext cx="4005072" cy="4572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0" y="2898648"/>
            <a:ext cx="382219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DATASET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3063239"/>
            <a:ext cx="3822191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0C8A0"/>
                </a:solidFill>
                <a:latin typeface="Calibri"/>
              </a:rPr>
              <a:t>400 Reviews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3282696"/>
            <a:ext cx="3822191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100 Lakeland + 300 competitors (equal split per brand)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19472" y="3685031"/>
            <a:ext cx="4005072" cy="713232"/>
          </a:xfrm>
          <a:prstGeom prst="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919472" y="3685031"/>
            <a:ext cx="4005072" cy="4572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29200" y="3776471"/>
            <a:ext cx="3822191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COMPETITORS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3941063"/>
            <a:ext cx="3822191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0C8A0"/>
                </a:solidFill>
                <a:latin typeface="Calibri"/>
              </a:rPr>
              <a:t>3 Brands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4160519"/>
            <a:ext cx="3822191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ProCook  |  Dunelm  |  Emma Bridgewater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" y="4617720"/>
            <a:ext cx="873252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82880" y="4617720"/>
            <a:ext cx="45720" cy="4114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74320" y="4645152"/>
            <a:ext cx="854964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Calibri"/>
              </a:rPr>
              <a:t>Dataset caveat: 20 reviews per star level per company (artificially balanced). Star averages are neutral by construction and cannot reflect true customer satisfaction.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512064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73252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Sentiment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621792"/>
            <a:ext cx="8778240" cy="228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82880" y="749808"/>
            <a:ext cx="3802598" cy="3419856"/>
          </a:xfrm>
          <a:prstGeom prst="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" y="749808"/>
            <a:ext cx="54864" cy="365760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7472" y="822960"/>
            <a:ext cx="4041648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LAKELAND  (N=100 REVIEWS)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005840"/>
            <a:ext cx="219456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0" b="1" i="0">
                <a:solidFill>
                  <a:srgbClr val="FF4757"/>
                </a:solidFill>
                <a:latin typeface="Calibri"/>
              </a:rPr>
              <a:t>70%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2194560"/>
            <a:ext cx="21945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 dirty="0">
                <a:solidFill>
                  <a:srgbClr val="FF4757"/>
                </a:solidFill>
                <a:latin typeface="Calibri"/>
              </a:rPr>
              <a:t>NEGATIVE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257860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0" i="0">
                <a:solidFill>
                  <a:srgbClr val="00C8A0"/>
                </a:solidFill>
                <a:latin typeface="Calibri"/>
              </a:rPr>
              <a:t>30% Positive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33472" y="868680"/>
            <a:ext cx="32004" cy="34564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0" y="841248"/>
            <a:ext cx="1600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PROPORTION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1115568"/>
            <a:ext cx="502920" cy="1792223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993491" y="3265302"/>
            <a:ext cx="502920" cy="768096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66160" y="1115568"/>
            <a:ext cx="5943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F4757"/>
                </a:solidFill>
                <a:latin typeface="Calibri"/>
              </a:rPr>
              <a:t>70%
Neg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391" y="3319272"/>
            <a:ext cx="594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 dirty="0">
                <a:solidFill>
                  <a:srgbClr val="00C8A0"/>
                </a:solidFill>
                <a:latin typeface="Calibri"/>
              </a:rPr>
              <a:t>30%
Pos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6186" y="3265302"/>
            <a:ext cx="1574074" cy="166420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6186" y="3050616"/>
            <a:ext cx="14173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 dirty="0">
                <a:solidFill>
                  <a:srgbClr val="94A3B8"/>
                </a:solidFill>
                <a:latin typeface="Calibri"/>
              </a:rPr>
              <a:t>NLP vs Stars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017" y="3462096"/>
            <a:ext cx="6583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dirty="0">
                <a:solidFill>
                  <a:srgbClr val="94A3B8"/>
                </a:solidFill>
                <a:latin typeface="Calibri"/>
              </a:rPr>
              <a:t>1-2 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0452" y="346209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 dirty="0">
                <a:solidFill>
                  <a:srgbClr val="FF4757"/>
                </a:solidFill>
                <a:latin typeface="Calibri"/>
              </a:rPr>
              <a:t>100% Neg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880" y="3804041"/>
            <a:ext cx="6583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dirty="0">
                <a:solidFill>
                  <a:srgbClr val="94A3B8"/>
                </a:solidFill>
                <a:latin typeface="Calibri"/>
              </a:rPr>
              <a:t>3 *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2999" y="3767191"/>
            <a:ext cx="74980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 dirty="0">
                <a:solidFill>
                  <a:srgbClr val="FF4757"/>
                </a:solidFill>
                <a:latin typeface="Calibri"/>
              </a:rPr>
              <a:t>95% Neg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161" y="4121622"/>
            <a:ext cx="6583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dirty="0">
                <a:solidFill>
                  <a:srgbClr val="94A3B8"/>
                </a:solidFill>
                <a:latin typeface="Calibri"/>
              </a:rPr>
              <a:t>4 *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15430" y="4105519"/>
            <a:ext cx="74980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 dirty="0">
                <a:solidFill>
                  <a:srgbClr val="FF8C42"/>
                </a:solidFill>
                <a:latin typeface="Calibri"/>
              </a:rPr>
              <a:t>50% Neg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017" y="4462272"/>
            <a:ext cx="6583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dirty="0">
                <a:solidFill>
                  <a:srgbClr val="94A3B8"/>
                </a:solidFill>
                <a:latin typeface="Calibri"/>
              </a:rPr>
              <a:t>5 *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15430" y="4462272"/>
            <a:ext cx="74980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 dirty="0">
                <a:solidFill>
                  <a:srgbClr val="00C8A0"/>
                </a:solidFill>
                <a:latin typeface="Calibri"/>
              </a:rPr>
              <a:t>5% Neg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749808"/>
            <a:ext cx="42062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COMPETITIVE BENCHMARK  -  % POSITIVE SENTIMENT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11155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Emma Bridgewater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88151" y="1124711"/>
            <a:ext cx="2077064" cy="292608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82093" y="1170432"/>
            <a:ext cx="105218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 dirty="0">
                <a:solidFill>
                  <a:srgbClr val="00C8A0"/>
                </a:solidFill>
                <a:latin typeface="Calibri"/>
              </a:rPr>
              <a:t>34%  +4 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18288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Dunelm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88152" y="1865376"/>
            <a:ext cx="2077064" cy="292608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982093" y="1883664"/>
            <a:ext cx="2378058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 dirty="0">
                <a:solidFill>
                  <a:srgbClr val="00C8A0"/>
                </a:solidFill>
                <a:latin typeface="Calibri"/>
              </a:rPr>
              <a:t>34%  +4 pp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254203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Lakeland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88152" y="2578608"/>
            <a:ext cx="2077063" cy="29260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30220" y="2596896"/>
            <a:ext cx="1985687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 dirty="0">
                <a:solidFill>
                  <a:srgbClr val="FF8C42"/>
                </a:solidFill>
                <a:latin typeface="Calibri"/>
              </a:rPr>
              <a:t>30%  Baseline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3255263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ProCook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88152" y="3291839"/>
            <a:ext cx="2077063" cy="292608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30220" y="3322159"/>
            <a:ext cx="1823999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 dirty="0">
                <a:solidFill>
                  <a:srgbClr val="FF4757"/>
                </a:solidFill>
                <a:latin typeface="Calibri"/>
              </a:rPr>
              <a:t>29%  -1 pp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79254" y="3649091"/>
            <a:ext cx="4206240" cy="14447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517136" y="3649091"/>
            <a:ext cx="54864" cy="1444752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837176" y="3776472"/>
            <a:ext cx="400507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00C8A0"/>
                </a:solidFill>
                <a:latin typeface="Calibri"/>
              </a:rPr>
              <a:t>KEY INSIGHT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73168" y="4187952"/>
            <a:ext cx="4005072" cy="10424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Closing the 4 pp gap vs sector leaders requires reducing T5 (order/service volume) and improving T1 (delivery). In-store experience (T2) is already a competitive strength — not where the problem lies.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512064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73252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Topic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621792"/>
            <a:ext cx="8778240" cy="228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" y="713232"/>
            <a:ext cx="87782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LDA  |  6 topics  |  6,138 Home &amp; Garden reviews  |  74 companies  |  applied to all 4 brands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005840"/>
            <a:ext cx="51663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TOPIC DISTRIBUTION &amp; SENTIMENT PRIORITY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280160"/>
            <a:ext cx="5166360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6032" y="1307592"/>
            <a:ext cx="594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307592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Key Words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0672" y="1307592"/>
            <a:ext cx="5029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94A3B8"/>
                </a:solidFill>
                <a:latin typeface="Calibri"/>
              </a:rPr>
              <a:t>Share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307592"/>
            <a:ext cx="5029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94A3B8"/>
                </a:solidFill>
                <a:latin typeface="Calibri"/>
              </a:rPr>
              <a:t>Neg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4528" y="1307592"/>
            <a:ext cx="10515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94A3B8"/>
                </a:solidFill>
                <a:latin typeface="Calibri"/>
              </a:rPr>
              <a:t>Priority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581912"/>
            <a:ext cx="5166360" cy="283464"/>
          </a:xfrm>
          <a:prstGeom prst="rect">
            <a:avLst/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82880" y="1581912"/>
            <a:ext cx="64008" cy="283464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472" y="1618488"/>
            <a:ext cx="5029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1618488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order, customer, service, received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0672" y="1618488"/>
            <a:ext cx="5029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37%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1618488"/>
            <a:ext cx="5029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FF4757"/>
                </a:solidFill>
                <a:latin typeface="Calibri"/>
              </a:rPr>
              <a:t>91.9%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24528" y="1618488"/>
            <a:ext cx="1005839" cy="210312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24528" y="1618488"/>
            <a:ext cx="1005839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1" i="0">
                <a:solidFill>
                  <a:srgbClr val="0D1B2E"/>
                </a:solidFill>
                <a:latin typeface="Calibri"/>
              </a:rPr>
              <a:t>HIGH PRIORITY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1883664"/>
            <a:ext cx="5166360" cy="283464"/>
          </a:xfrm>
          <a:prstGeom prst="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82880" y="1883664"/>
            <a:ext cx="64008" cy="2834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1920240"/>
            <a:ext cx="5029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1920240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quality, bought, product, shed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672" y="1920240"/>
            <a:ext cx="5029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17%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1920240"/>
            <a:ext cx="5029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FF8C42"/>
                </a:solidFill>
                <a:latin typeface="Calibri"/>
              </a:rPr>
              <a:t>76.5%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24528" y="1920240"/>
            <a:ext cx="1005839" cy="21031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24528" y="1920240"/>
            <a:ext cx="1005839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1" i="0">
                <a:solidFill>
                  <a:srgbClr val="0D1B2E"/>
                </a:solidFill>
                <a:latin typeface="Calibri"/>
              </a:rPr>
              <a:t>HIGH PRIORITY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2185416"/>
            <a:ext cx="5166360" cy="283464"/>
          </a:xfrm>
          <a:prstGeom prst="rect">
            <a:avLst/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82880" y="2185416"/>
            <a:ext cx="64008" cy="2834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7472" y="2221992"/>
            <a:ext cx="5029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2221992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service, helpful, kitchen, great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90672" y="2221992"/>
            <a:ext cx="5029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16%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2221992"/>
            <a:ext cx="5029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FF8C42"/>
                </a:solidFill>
                <a:latin typeface="Calibri"/>
              </a:rPr>
              <a:t>18.8%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24528" y="2221992"/>
            <a:ext cx="1005839" cy="21031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224528" y="2221992"/>
            <a:ext cx="1005839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1" i="0">
                <a:solidFill>
                  <a:srgbClr val="0D1B2E"/>
                </a:solidFill>
                <a:latin typeface="Calibri"/>
              </a:rPr>
              <a:t>STRENGTH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2880" y="2487168"/>
            <a:ext cx="5166360" cy="283464"/>
          </a:xfrm>
          <a:prstGeom prst="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82880" y="2487168"/>
            <a:ext cx="64008" cy="283464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47472" y="2523744"/>
            <a:ext cx="5029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2523744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delivery, delivered, time, good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90672" y="2523744"/>
            <a:ext cx="5029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12%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2523744"/>
            <a:ext cx="5029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00C8A0"/>
                </a:solidFill>
                <a:latin typeface="Calibri"/>
              </a:rPr>
              <a:t>75.0%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24528" y="2523744"/>
            <a:ext cx="1005839" cy="210312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224528" y="2523744"/>
            <a:ext cx="1005839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1" i="0">
                <a:solidFill>
                  <a:srgbClr val="0D1B2E"/>
                </a:solidFill>
                <a:latin typeface="Calibri"/>
              </a:rPr>
              <a:t>FIX NEEDED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2880" y="2788920"/>
            <a:ext cx="5166360" cy="283464"/>
          </a:xfrm>
          <a:prstGeom prst="rect">
            <a:avLst/>
          </a:prstGeom>
          <a:solidFill>
            <a:srgbClr val="1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82880" y="2788920"/>
            <a:ext cx="64008" cy="283464"/>
          </a:xfrm>
          <a:prstGeom prst="rect">
            <a:avLst/>
          </a:prstGeom>
          <a:solidFill>
            <a:srgbClr val="647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47472" y="2825496"/>
            <a:ext cx="5029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2825496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delivery, day, told, order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90672" y="2825496"/>
            <a:ext cx="5029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9%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0" y="2825496"/>
            <a:ext cx="5029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647488"/>
                </a:solidFill>
                <a:latin typeface="Calibri"/>
              </a:rPr>
              <a:t>77.8%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24528" y="2825496"/>
            <a:ext cx="1005839" cy="210312"/>
          </a:xfrm>
          <a:prstGeom prst="rect">
            <a:avLst/>
          </a:prstGeom>
          <a:solidFill>
            <a:srgbClr val="647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224528" y="2825496"/>
            <a:ext cx="1005839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1" i="0">
                <a:solidFill>
                  <a:srgbClr val="0D1B2E"/>
                </a:solidFill>
                <a:latin typeface="Calibri"/>
              </a:rPr>
              <a:t>FIX NEEDED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2880" y="3090672"/>
            <a:ext cx="5166360" cy="283464"/>
          </a:xfrm>
          <a:prstGeom prst="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182880" y="3090672"/>
            <a:ext cx="64008" cy="283464"/>
          </a:xfrm>
          <a:prstGeom prst="rect">
            <a:avLst/>
          </a:prstGeom>
          <a:solidFill>
            <a:srgbClr val="647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47472" y="3127248"/>
            <a:ext cx="5029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" y="3127248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good, quality, great, service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90672" y="3127248"/>
            <a:ext cx="5029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9%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0" y="3127248"/>
            <a:ext cx="5029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647488"/>
                </a:solidFill>
                <a:latin typeface="Calibri"/>
              </a:rPr>
              <a:t>44.4%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24528" y="3127248"/>
            <a:ext cx="1005839" cy="210312"/>
          </a:xfrm>
          <a:prstGeom prst="rect">
            <a:avLst/>
          </a:prstGeom>
          <a:solidFill>
            <a:srgbClr val="647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224528" y="3127248"/>
            <a:ext cx="1005839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1" i="0">
                <a:solidFill>
                  <a:srgbClr val="0D1B2E"/>
                </a:solidFill>
                <a:latin typeface="Calibri"/>
              </a:rPr>
              <a:t>MONITOR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82880" y="3410712"/>
            <a:ext cx="5166360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46888" y="3493008"/>
            <a:ext cx="5029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F8C42"/>
                </a:solidFill>
                <a:latin typeface="Calibri"/>
              </a:rPr>
              <a:t>T4 + T5 = 54% of reviews — both highly negative — dominant pain points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46888" y="3767328"/>
            <a:ext cx="5029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00C8A0"/>
                </a:solidFill>
                <a:latin typeface="Calibri"/>
              </a:rPr>
              <a:t>T2 is the competitive strength: 18.8% negative vs ~23% sector average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46888" y="4041648"/>
            <a:ext cx="5029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Calibri"/>
              </a:rPr>
              <a:t>Priority rule: share &gt;=15% AND negativity &gt;=70% = immediate action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77840" y="1005840"/>
            <a:ext cx="33375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Calibri"/>
              </a:rPr>
              <a:t>T5 ORDER/SERVICE  -  COMPETITIVE COMPARISON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77840" y="1298448"/>
            <a:ext cx="33375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Share of Reviews (T5)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77840" y="1572768"/>
            <a:ext cx="960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Lakeland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601968" y="1618488"/>
            <a:ext cx="2240280" cy="219456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906256" y="1618488"/>
            <a:ext cx="4114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F4757"/>
                </a:solidFill>
                <a:latin typeface="Calibri"/>
              </a:rPr>
              <a:t>37%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577840" y="1920240"/>
            <a:ext cx="960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Dunelm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601968" y="1965960"/>
            <a:ext cx="1706880" cy="219456"/>
          </a:xfrm>
          <a:prstGeom prst="rect">
            <a:avLst/>
          </a:prstGeom>
          <a:solidFill>
            <a:srgbClr val="647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372856" y="1965960"/>
            <a:ext cx="4114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647488"/>
                </a:solidFill>
                <a:latin typeface="Calibri"/>
              </a:rPr>
              <a:t>29%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577840" y="2267712"/>
            <a:ext cx="960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Emma B.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601968" y="2313432"/>
            <a:ext cx="1600200" cy="219456"/>
          </a:xfrm>
          <a:prstGeom prst="rect">
            <a:avLst/>
          </a:prstGeom>
          <a:solidFill>
            <a:srgbClr val="647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266175" y="2313432"/>
            <a:ext cx="4114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647488"/>
                </a:solidFill>
                <a:latin typeface="Calibri"/>
              </a:rPr>
              <a:t>21%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77840" y="2615184"/>
            <a:ext cx="960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ProCook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601968" y="2660904"/>
            <a:ext cx="1493520" cy="219456"/>
          </a:xfrm>
          <a:prstGeom prst="rect">
            <a:avLst/>
          </a:prstGeom>
          <a:solidFill>
            <a:srgbClr val="647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159496" y="2660904"/>
            <a:ext cx="41148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647488"/>
                </a:solidFill>
                <a:latin typeface="Calibri"/>
              </a:rPr>
              <a:t>28%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577840" y="3017520"/>
            <a:ext cx="3337560" cy="1828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5577840" y="3017520"/>
            <a:ext cx="64008" cy="182880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696712" y="3090672"/>
            <a:ext cx="3127248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F4757"/>
                </a:solidFill>
                <a:latin typeface="Calibri"/>
              </a:rPr>
              <a:t>T5 NEGATIVITY GAP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96712" y="3383280"/>
            <a:ext cx="312724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Lakeland       91.9% negative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96712" y="3657600"/>
            <a:ext cx="312724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Comp. avg    ~94% negative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696712" y="3950208"/>
            <a:ext cx="3063240" cy="36576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696712" y="4023360"/>
            <a:ext cx="31272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FF4757"/>
                </a:solidFill>
                <a:latin typeface="Calibri"/>
              </a:rPr>
              <a:t>Gap:  -2.3 pp (Lakeland marginally better)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696712" y="4389120"/>
            <a:ext cx="3127248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1">
                <a:solidFill>
                  <a:srgbClr val="94A3B8"/>
                </a:solidFill>
                <a:latin typeface="Calibri"/>
              </a:rPr>
              <a:t>High volume (37% of reviews vs ~26% competitor avg) is the key concern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512064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873252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Conclusions &amp;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621792"/>
            <a:ext cx="8778240" cy="228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" y="731520"/>
            <a:ext cx="4343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00C8A0"/>
                </a:solidFill>
                <a:latin typeface="Calibri"/>
              </a:rPr>
              <a:t>KEY FINDINGS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51560"/>
            <a:ext cx="64008" cy="566928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4251960" cy="566928"/>
          </a:xfrm>
          <a:prstGeom prst="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133856"/>
            <a:ext cx="4041648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70% of Lakeland reviews are NEGATIVE - concealed by artificially balanced star ratings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737360"/>
            <a:ext cx="64008" cy="5669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737360"/>
            <a:ext cx="4251960" cy="566928"/>
          </a:xfrm>
          <a:prstGeom prst="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1819656"/>
            <a:ext cx="4041648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T4 + T5 (product quality &amp; order/service) drive 54% of reviews — dominant pain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2423160"/>
            <a:ext cx="64008" cy="566928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4320" y="2423160"/>
            <a:ext cx="4251960" cy="566928"/>
          </a:xfrm>
          <a:prstGeom prst="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048" y="2505456"/>
            <a:ext cx="4041648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T1 (delivery) shows a +8.1 pp negativity gap vs competitors — most urgent operational gap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3108960"/>
            <a:ext cx="64008" cy="566928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" y="3108960"/>
            <a:ext cx="4251960" cy="566928"/>
          </a:xfrm>
          <a:prstGeom prst="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4048" y="3191256"/>
            <a:ext cx="4041648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T2 (in-store/kitchen) is Lakeland’s competitive strength — 18.8% negative vs 23.0% sector avg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3794760"/>
            <a:ext cx="64008" cy="5669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4320" y="3794760"/>
            <a:ext cx="4251960" cy="566928"/>
          </a:xfrm>
          <a:prstGeom prst="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4048" y="3877056"/>
            <a:ext cx="4041648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4 pp sentiment gap behind sector leaders Dunelm and Emma Bridgewater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27448" y="658368"/>
            <a:ext cx="36576" cy="4434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92040" y="731520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00C8A0"/>
                </a:solidFill>
                <a:latin typeface="Calibri"/>
              </a:rPr>
              <a:t>PRIORITISED NEXT STEPS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92040" y="1051560"/>
            <a:ext cx="4023360" cy="1152144"/>
          </a:xfrm>
          <a:prstGeom prst="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892040" y="1051560"/>
            <a:ext cx="64008" cy="1152144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992624" y="1124712"/>
            <a:ext cx="438912" cy="27432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92624" y="1124712"/>
            <a:ext cx="438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0D1B2E"/>
                </a:solidFill>
                <a:latin typeface="Calibri"/>
              </a:rPr>
              <a:t>P1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1143000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0-3 months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92624" y="1435607"/>
            <a:ext cx="3822191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Reduce Order/Service Volume (T5)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92624" y="1709928"/>
            <a:ext cx="3822191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Real-time confirmation, SMS tracking, dedicated escalation
Target: T5 share 37% → ~25%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92040" y="2331720"/>
            <a:ext cx="4023360" cy="1152144"/>
          </a:xfrm>
          <a:prstGeom prst="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892040" y="2331720"/>
            <a:ext cx="64008" cy="115214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992624" y="2404872"/>
            <a:ext cx="438912" cy="27432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992624" y="2404872"/>
            <a:ext cx="438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0D1B2E"/>
                </a:solidFill>
                <a:latin typeface="Calibri"/>
              </a:rPr>
              <a:t>P2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2423160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0-3 months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92624" y="2715768"/>
            <a:ext cx="3822191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Improve Delivery Experience (T1)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92624" y="2990087"/>
            <a:ext cx="3822191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Evaluate couriers, introduce tracked options, improve packaging
Target: close 8 pp negativity gap vs competitors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92040" y="3611879"/>
            <a:ext cx="4023360" cy="1152144"/>
          </a:xfrm>
          <a:prstGeom prst="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892040" y="3611879"/>
            <a:ext cx="64008" cy="1152144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992624" y="3685031"/>
            <a:ext cx="438912" cy="274320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992624" y="3685031"/>
            <a:ext cx="4389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0D1B2E"/>
                </a:solidFill>
                <a:latin typeface="Calibri"/>
              </a:rPr>
              <a:t>P3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0" y="3703320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3-6 months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92624" y="3995928"/>
            <a:ext cx="3822191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Leverage In-store/Kitchen Strength (T2)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92624" y="4270248"/>
            <a:ext cx="3822191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‘Quality Promise’ campaign, feature testimonials, build brand differentiation
Protect and amplify T2 competitive advantage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" y="4919472"/>
            <a:ext cx="8778240" cy="36576"/>
          </a:xfrm>
          <a:prstGeom prst="rect">
            <a:avLst/>
          </a:prstGeom>
          <a:solidFill>
            <a:srgbClr val="00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82880" y="4956048"/>
            <a:ext cx="87782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800" b="0" i="0">
                <a:solidFill>
                  <a:srgbClr val="647488"/>
                </a:solidFill>
                <a:latin typeface="Calibri"/>
              </a:rPr>
              <a:t>Lakeland  |  Trustpilot NLP Analysis  | 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682</Words>
  <Application>Microsoft Office PowerPoint</Application>
  <PresentationFormat>Custom</PresentationFormat>
  <Paragraphs>143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Nazmul Mustufa Farooquee</dc:creator>
  <cp:keywords/>
  <dc:description>generated using python-pptx</dc:description>
  <cp:lastModifiedBy>Nazmul Mustufa Farooquee</cp:lastModifiedBy>
  <cp:revision>2</cp:revision>
  <dcterms:created xsi:type="dcterms:W3CDTF">2013-01-27T09:14:16Z</dcterms:created>
  <dcterms:modified xsi:type="dcterms:W3CDTF">2026-06-17T10:25:09Z</dcterms:modified>
  <cp:category/>
</cp:coreProperties>
</file>